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0.2 min</a:t>
            </a:r>
          </a:p>
          <a:p>
            <a:r>
              <a:t>- Frame the talk as one question: can you trust a run?</a:t>
            </a:r>
          </a:p>
          <a:p>
            <a:r>
              <a:t>- Everything after answers it for one model, SMRT.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0.6 min</a:t>
            </a:r>
          </a:p>
          <a:p>
            <a:r>
              <a:t>- Silent failure: snow denser than ice still gives a plausible curve.</a:t>
            </a:r>
          </a:p>
          <a:p>
            <a:r>
              <a:t>- Code agents: 40% accuracy, over 44% of code does not run (UnivEARTH).</a:t>
            </a:r>
          </a:p>
          <a:p>
            <a:r>
              <a:t>- Land the question: not 'can it call a model' but 'can the run be trusted'.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0.6 min</a:t>
            </a:r>
          </a:p>
          <a:p>
            <a:r>
              <a:t>- Three kinds of agent; mention RS-Agent, ThinkGeo, GeoAgent, EE Genie.</a:t>
            </a:r>
          </a:p>
          <a:p>
            <a:r>
              <a:t>- Physics models encode processes, so ranges can be declared.</a:t>
            </a:r>
          </a:p>
          <a:p>
            <a:r>
              <a:t>- Two goals: reproduce, and run new trustworthy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0.7 min</a:t>
            </a:r>
          </a:p>
          <a:p>
            <a:r>
              <a:t>- This is the story for the rest of the talk.</a:t>
            </a:r>
          </a:p>
          <a:p>
            <a:r>
              <a:t>- A: the model is what its card says and the system enforces it. B: the run matches the paper and names its assumptions. C: cost.</a:t>
            </a:r>
          </a:p>
          <a:p>
            <a:r>
              <a:t>- Watch the A / B / C marker bottom-right on every slide.</a:t>
            </a:r>
          </a:p>
          <a:p>
            <a:r>
              <a:t>- Say it: we do not ask you to trust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0.4 min</a:t>
            </a:r>
          </a:p>
          <a:p>
            <a:r>
              <a:t>- Each rule maps to a protocol letter.</a:t>
            </a:r>
          </a:p>
          <a:p>
            <a:r>
              <a:t>- Declare, don't code; plan before compute; verify in code; persist evidence.</a:t>
            </a:r>
          </a:p>
          <a:p>
            <a:r>
              <a:t>- EE Genie contrast: better programmer vs checked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0.5 min</a:t>
            </a:r>
          </a:p>
          <a:p>
            <a:r>
              <a:t>- Step 0 is registration: card, adapter, paper by DOI. Done.</a:t>
            </a:r>
          </a:p>
          <a:p>
            <a:r>
              <a:t>- Figures extracted only for the SMRT paper so far.</a:t>
            </a:r>
          </a:p>
          <a:p>
            <a:r>
              <a:t>- Step 4 is human-gated, not recursive self-improvement.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0.4 min</a:t>
            </a:r>
          </a:p>
          <a:p>
            <a:r>
              <a:t>- Read left to right, top to bottom; accent boxes are gates.</a:t>
            </a:r>
          </a:p>
          <a:p>
            <a:r>
              <a:t>- Gates are code; the run trace shows each, including refusals.</a:t>
            </a:r>
          </a:p>
          <a:p>
            <a:r>
              <a:t>- Ablation switches live in YAML and are never reachable from a prompt.</a:t>
            </a:r>
          </a:p>
          <a:p>
            <a:r>
              <a:t>- Note: architecture PNG elsewhere still shows 11 tools; there are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0.5 min</a:t>
            </a:r>
          </a:p>
          <a:p>
            <a:r>
              <a:t>- Left: the typical LLM + RAG + model-code pipeline and its failure modes.</a:t>
            </a:r>
          </a:p>
          <a:p>
            <a:r>
              <a:t>- Right: the same LLM inside a harness; orange boxes are what PhysEarth adds.</a:t>
            </a:r>
          </a:p>
          <a:p>
            <a:r>
              <a:t>- Two outcomes: process-driven reproduction, evidence-constrained trust.</a:t>
            </a:r>
          </a:p>
          <a:p>
            <a:r>
              <a:t>- Bridge: the control plane is what protocols A and B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0.8 min</a:t>
            </a:r>
          </a:p>
          <a:p>
            <a:r>
              <a:t>- Demo model is SMRT. You hand in a card and an adapter.</a:t>
            </a:r>
          </a:p>
          <a:p>
            <a:r>
              <a:t>- A1 card validity, A2 adapter equals upstream to nine decimals, A3 guards: run, replay, refuse, approval-block.</a:t>
            </a:r>
          </a:p>
          <a:p>
            <a:r>
              <a:t>- 20/20, no LLM, about 20 seconds.</a:t>
            </a:r>
          </a:p>
          <a:p>
            <a:r>
              <a:t>- Probe: the agent declines density 2000 and cites the 917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0.8 min</a:t>
            </a:r>
          </a:p>
          <a:p>
            <a:r>
              <a:t>- Reproduction is not one number. Six scores.</a:t>
            </a:r>
          </a:p>
          <a:p>
            <a:r>
              <a:t>- Visual judge is label-blinded; numeric error vs authors' notebook is next week.</a:t>
            </a:r>
          </a:p>
          <a:p>
            <a:r>
              <a:t>- Provenance: the label is scored, not the guess.</a:t>
            </a:r>
          </a:p>
          <a:p>
            <a:r>
              <a:t>- Everything recomputed from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0.4 min</a:t>
            </a:r>
          </a:p>
          <a:p>
            <a:r>
              <a:t>- Be explicit about what is done and what is not.</a:t>
            </a:r>
          </a:p>
          <a:p>
            <a:r>
              <a:t>- Direct-LLM and other-LLM runs are next week; coding agents are later.</a:t>
            </a:r>
          </a:p>
          <a:p>
            <a:r>
              <a:t>- The 0% vs 17% and 100% vs 67% numbers are from an earlier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0.4 min</a:t>
            </a:r>
          </a:p>
          <a:p>
            <a:r>
              <a:t>- 4-5 minutes, about 0.7M tokens, 26-28 calls per Q1 run.</a:t>
            </a:r>
          </a:p>
          <a:p>
            <a:r>
              <a:t>- UX is a proposal: time to first figure, approvals, plan edits.</a:t>
            </a:r>
          </a:p>
          <a:p>
            <a:r>
              <a:t>- Be honest: baseline cost still to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0.6 min</a:t>
            </a:r>
          </a:p>
          <a:p>
            <a:r>
              <a:t>- Left paper, right agent: same six curves and grouping.</a:t>
            </a:r>
          </a:p>
          <a:p>
            <a:r>
              <a:t>- 3/3 figures, visual judge 8/8.</a:t>
            </a:r>
          </a:p>
          <a:p>
            <a:r>
              <a:t>- Numeric: 4/6 within 3-4%; sticky pair 12% off because stickiness is never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0.8 min</a:t>
            </a:r>
          </a:p>
          <a:p>
            <a:r>
              <a:t>- Success: figure, refusals.</a:t>
            </a:r>
          </a:p>
          <a:p>
            <a:r>
              <a:t>- Partial: numbers and reports (6, 6, 5 of 10, pass 8).</a:t>
            </a:r>
          </a:p>
          <a:p>
            <a:r>
              <a:t>- Failed: baseline bug fixed, stickiness unlabelled, MEMLS and PROSAIL gaps.</a:t>
            </a:r>
          </a:p>
          <a:p>
            <a:r>
              <a:t>- This is a pilot; the full matrix runs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2 min</a:t>
            </a:r>
          </a:p>
          <a:p>
            <a:r>
              <a:t>- Play the recording: Studio, then Claude Code, then a 10-second cut of Codex and DeepSeek Harness.</a:t>
            </a:r>
          </a:p>
          <a:p>
            <a:r>
              <a:t>- If the video fails, narrate the three beats from the right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0.4 min</a:t>
            </a:r>
          </a:p>
          <a:p>
            <a:r>
              <a:t>- Five deliverables, all open source.</a:t>
            </a:r>
          </a:p>
          <a:p>
            <a:r>
              <a:t>- Animation is a placeholder for the recorded clip; plugins merge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0.4 min</a:t>
            </a:r>
          </a:p>
          <a:p>
            <a:r>
              <a:t>- Next: numeric-claim gate, provenance cross-check, new cases.</a:t>
            </a:r>
          </a:p>
          <a:p>
            <a:r>
              <a:t>- Vision: plug in theories through the same contract.</a:t>
            </a:r>
          </a:p>
          <a:p>
            <a:r>
              <a:t>- Closing line: code only through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0.2 min</a:t>
            </a:r>
          </a:p>
          <a:p>
            <a:r>
              <a:t>- Re-answer the question: A, B, C.</a:t>
            </a:r>
          </a:p>
          <a:p>
            <a:r>
              <a:t>- Invite them to register their own model and run the same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 min</a:t>
            </a:r>
          </a:p>
          <a:p>
            <a:r>
              <a:t>- Q&amp;A, 3 minutes.</a:t>
            </a:r>
          </a:p>
          <a:p>
            <a:r>
              <a:t>- Ready answers: coding agents (flexible, fail silently, protocol scores them too); unstated parameters (label, outcome partial); add a model (card + adapter, registry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 min</a:t>
            </a:r>
          </a:p>
          <a:p>
            <a:r>
              <a:t>- First-pass classification, to confirm with the capability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0 min</a:t>
            </a:r>
          </a:p>
          <a:p>
            <a:r>
              <a:t>- Related agents for the comparison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5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D5C8"/>
                </a:solidFill>
                <a:latin typeface="Courier New"/>
              </a:rPr>
              <a:t>PHYSEARTH-AGENT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3D5C8"/>
                </a:solidFill>
                <a:latin typeface="Courier New"/>
              </a:rPr>
              <a:t>OPEN SOURCE GEOAI PRACTICE · IEEE AP-GARSS 2026  ·  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TRUST PROTOCOL FOR PHYSICAL-MODEL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96012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Arial"/>
              </a:rPr>
              <a:t>Can you trust a run of a </a:t>
            </a:r>
            <a:r>
              <a:rPr sz="5400" b="0" i="1">
                <a:solidFill>
                  <a:srgbClr val="FFFFFF"/>
                </a:solidFill>
                <a:latin typeface="Arial"/>
              </a:rPr>
              <a:t>physical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3D5C8"/>
                </a:solidFill>
                <a:latin typeface="Arial"/>
              </a:rPr>
              <a:t>An agent for physics-based Earth models, and the protocol that scores whether its runs can be trusted. Demonstrated end to end on SMRT, a snow microwave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D5C8"/>
                </a:solidFill>
                <a:latin typeface="Courier New"/>
              </a:rPr>
              <a:t>Open source · deploys as a ModelScope Studio app · 12 min + 3 min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5ACA2"/>
                </a:solidFill>
                <a:latin typeface="Courier New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WHY TRUST IS THE QUESTION  ·  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309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AFAF8"/>
                </a:solidFill>
                <a:latin typeface="Georgia"/>
              </a:rPr>
              <a:t>Physical models fail </a:t>
            </a:r>
            <a:r>
              <a:rPr sz="4400" b="1" i="1">
                <a:solidFill>
                  <a:srgbClr val="F0A98A"/>
                </a:solidFill>
                <a:latin typeface="Georgia"/>
              </a:rPr>
              <a:t>silently.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91840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A0A0A"/>
                </a:solidFill>
                <a:latin typeface="Arial"/>
              </a:rPr>
              <a:t>Ask for snow denser than ice and the model still returns a smooth, plausible curve. Nothing crashes, nothing warns.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B5ACA2"/>
                </a:solidFill>
                <a:latin typeface="Arial"/>
              </a:rPr>
              <a:t>So the question is not whether an agent can call a model. It is whether its run can be trusted.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589520" y="1463040"/>
            <a:ext cx="3931920" cy="0"/>
          </a:xfrm>
          <a:prstGeom prst="line">
            <a:avLst/>
          </a:prstGeom>
          <a:ln w="19050">
            <a:solidFill>
              <a:srgbClr val="FA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89520" y="160020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Georgia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7432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5ACA2"/>
                </a:solidFill>
                <a:latin typeface="Arial"/>
              </a:rPr>
              <a:t>accuracy of code agents on UnivEARTH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0" y="3566160"/>
            <a:ext cx="3931920" cy="0"/>
          </a:xfrm>
          <a:prstGeom prst="line">
            <a:avLst/>
          </a:prstGeom>
          <a:ln w="19050">
            <a:solidFill>
              <a:srgbClr val="FA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89520" y="370332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Georgia"/>
              </a:rPr>
              <a:t>&gt;44%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8463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5ACA2"/>
                </a:solidFill>
                <a:latin typeface="Arial"/>
              </a:rPr>
              <a:t>of generated code does not even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5ACA2"/>
                </a:solidFill>
                <a:latin typeface="Courier New"/>
              </a:rPr>
              <a:t>UnivEARTH · "Towards LLM Agents for Earth Observation", ICML 2025 (arXiv 2504.12110)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02 · GOAL AND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THREE KINDS OF GEOAI AGENT  ·  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WHERE PHYSEARTH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22B27"/>
                </a:solidFill>
                <a:latin typeface="Georgia"/>
              </a:rPr>
              <a:t>Perceive, code, or </a:t>
            </a:r>
            <a:r>
              <a:rPr sz="3800" b="1" i="1">
                <a:solidFill>
                  <a:srgbClr val="C4532F"/>
                </a:solidFill>
                <a:latin typeface="Georgia"/>
              </a:rPr>
              <a:t>operate 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3818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PERCEPTION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22B27"/>
                </a:solidFill>
                <a:latin typeface="Arial"/>
              </a:rPr>
              <a:t>RS-Agent · ThinkGeo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8751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Call trained networks, e.g. SAR to flood extent. The model is learned from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28751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Trust gap: a black box with no declared physics.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2011680"/>
            <a:ext cx="3423818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8258" y="224028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CODE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56032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22B27"/>
                </a:solidFill>
                <a:latin typeface="Arial"/>
              </a:rPr>
              <a:t>GeoAgent · EE Genie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108960"/>
            <a:ext cx="28751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Write and run code for each task. Flexible, but brittle and silent when wrong.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4526280"/>
            <a:ext cx="28751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Trust gap: library defaults, out-of-range values, overstated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2076" y="2011680"/>
            <a:ext cx="3423818" cy="3200400"/>
          </a:xfrm>
          <a:prstGeom prst="roundRect">
            <a:avLst>
              <a:gd name="adj" fmla="val 4571"/>
            </a:avLst>
          </a:prstGeom>
          <a:solidFill>
            <a:srgbClr val="C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224028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8C8C6"/>
                </a:solidFill>
                <a:latin typeface="Courier New"/>
              </a:rPr>
              <a:t>PHYSICAL-MODEL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2560320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PhysEarth-Agent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108960"/>
            <a:ext cx="28751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Runs registered radiative-transfer, hydrology and land-surface models that encode processes. Ranges and legal settings are declared, not guessed.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4526280"/>
            <a:ext cx="28751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C8C6"/>
                </a:solidFill>
                <a:latin typeface="Arial"/>
              </a:rPr>
              <a:t>Trust by construction, then by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Arial"/>
              </a:rPr>
              <a:t>Goal 1 </a:t>
            </a:r>
            <a:r>
              <a:rPr sz="1600" b="0" i="0">
                <a:solidFill>
                  <a:srgbClr val="0A0A0A"/>
                </a:solidFill>
                <a:latin typeface="Arial"/>
              </a:rPr>
              <a:t>· reproduce published model experiments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577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Arial"/>
              </a:rPr>
              <a:t>Goal 2 </a:t>
            </a:r>
            <a:r>
              <a:rPr sz="1600" b="0" i="0">
                <a:solidFill>
                  <a:srgbClr val="0A0A0A"/>
                </a:solidFill>
                <a:latin typeface="Arial"/>
              </a:rPr>
              <a:t>· run new experiments you can trust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5ACA2"/>
                </a:solidFill>
                <a:latin typeface="Courier New"/>
              </a:rPr>
              <a:t>03 · THE KEY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HOW CAN WE TRUST THE MODEL?  ·  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0A98A"/>
                </a:solidFill>
                <a:latin typeface="Courier New"/>
              </a:rPr>
              <a:t>ONE MODEL, THREE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8F6F2"/>
                </a:solidFill>
                <a:latin typeface="Georgia"/>
              </a:rPr>
              <a:t>Trust is a protocol, </a:t>
            </a:r>
            <a:r>
              <a:rPr sz="3800" b="1" i="1">
                <a:solidFill>
                  <a:srgbClr val="F0A98A"/>
                </a:solidFill>
                <a:latin typeface="Georgia"/>
              </a:rPr>
              <a:t>not a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3818" cy="3383280"/>
          </a:xfrm>
          <a:prstGeom prst="roundRect">
            <a:avLst>
              <a:gd name="adj" fmla="val 4324"/>
            </a:avLst>
          </a:prstGeom>
          <a:solidFill>
            <a:srgbClr val="332D28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8"/>
                </a:solidFill>
                <a:latin typeface="Arial"/>
              </a:rPr>
              <a:t>Register &amp;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28751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AFAF8"/>
                </a:solidFill>
                <a:latin typeface="Arial"/>
              </a:rPr>
              <a:t>Is the model what its card says, and does the system enforce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5ACA2"/>
                </a:solidFill>
                <a:latin typeface="Arial"/>
              </a:rPr>
              <a:t>Card valid · adapter equals the authors' code · illegal calls refused · human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AFAF8"/>
                </a:solidFill>
                <a:latin typeface="Courier New"/>
              </a:rPr>
              <a:t>[DONE]  20/20 checks, 0 LLM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011680"/>
            <a:ext cx="3423818" cy="3383280"/>
          </a:xfrm>
          <a:prstGeom prst="roundRect">
            <a:avLst>
              <a:gd name="adj" fmla="val 4324"/>
            </a:avLst>
          </a:prstGeom>
          <a:solidFill>
            <a:srgbClr val="332D28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8258" y="21031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06324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8"/>
                </a:solidFill>
                <a:latin typeface="Arial"/>
              </a:rPr>
              <a:t>Reproduce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3474720"/>
            <a:ext cx="28751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AFAF8"/>
                </a:solidFill>
                <a:latin typeface="Arial"/>
              </a:rPr>
              <a:t>Does the run match the paper, and does it name what it assumed?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258" y="425196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5ACA2"/>
                </a:solidFill>
                <a:latin typeface="Arial"/>
              </a:rPr>
              <a:t>Execution · figure judge · numeric error · provenance · report judge · vs baselines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8258" y="4983480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AFAF8"/>
                </a:solidFill>
                <a:latin typeface="Courier New"/>
              </a:rPr>
              <a:t>[DONE] [NUMERIC 1 WK]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2076" y="2011680"/>
            <a:ext cx="3423818" cy="3383280"/>
          </a:xfrm>
          <a:prstGeom prst="roundRect">
            <a:avLst>
              <a:gd name="adj" fmla="val 4324"/>
            </a:avLst>
          </a:prstGeom>
          <a:solidFill>
            <a:srgbClr val="332D28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396" y="21031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306324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AFAF8"/>
                </a:solidFill>
                <a:latin typeface="Arial"/>
              </a:rPr>
              <a:t>Afford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3474720"/>
            <a:ext cx="28751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AFAF8"/>
                </a:solidFill>
                <a:latin typeface="Arial"/>
              </a:rPr>
              <a:t>What does a trusted run cost in time, tokens and effort?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425196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5ACA2"/>
                </a:solidFill>
                <a:latin typeface="Arial"/>
              </a:rPr>
              <a:t>Minutes · tokens · LLM calls · approvals · user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396" y="4983480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AFAF8"/>
                </a:solidFill>
                <a:latin typeface="Courier New"/>
              </a:rPr>
              <a:t>[DONE] time, tokens  [UX LATER]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AFAF8"/>
                </a:solidFill>
                <a:latin typeface="Arial"/>
              </a:rPr>
              <a:t>We do not ask you to trust the LLM. We ask you to read the gates and recompute the scores.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0A98A"/>
          </a:solidFill>
          <a:ln w="12700">
            <a:solidFill>
              <a:srgbClr val="F0A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211D"/>
                </a:solidFill>
                <a:latin typeface="Courier New"/>
              </a:rPr>
              <a:t>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0A98A"/>
          </a:solidFill>
          <a:ln w="12700">
            <a:solidFill>
              <a:srgbClr val="F0A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211D"/>
                </a:solidFill>
                <a:latin typeface="Courier New"/>
              </a:rPr>
              <a:t>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0A98A"/>
          </a:solidFill>
          <a:ln w="12700">
            <a:solidFill>
              <a:srgbClr val="F0A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211D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04 · PROBLEM-SOLVING PHILOSOPHIES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RULES BEHIND EVERY STEP  ·  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WHY THE PROTOCOL CAN BE BELIEVED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22B27"/>
                </a:solidFill>
                <a:latin typeface="Georgia"/>
              </a:rPr>
              <a:t>Four rules, </a:t>
            </a:r>
            <a:r>
              <a:rPr sz="3800" b="1" i="1">
                <a:solidFill>
                  <a:srgbClr val="C4532F"/>
                </a:solidFill>
                <a:latin typeface="Georgia"/>
              </a:rPr>
              <a:t>each a trust mechanism.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2499283" cy="329184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01 ·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Arial"/>
              </a:rPr>
              <a:t>Declare, don't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0420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Arial"/>
              </a:rPr>
              <a:t>A model's capability lives in its card: ranges, legal pairs, output bounds. Not in code the LLM writes.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011680"/>
            <a:ext cx="2499283" cy="329184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19456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02 · A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8003" y="256032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Arial"/>
              </a:rPr>
              <a:t>Plan before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3291840"/>
            <a:ext cx="20420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Arial"/>
              </a:rPr>
              <a:t>A human approves the whole experiment before anything runs. Unstated values are labelled, not hidden.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011680"/>
            <a:ext cx="2499283" cy="329184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219456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03 · A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56032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Arial"/>
              </a:rPr>
              <a:t>Verify in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291840"/>
            <a:ext cx="20420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Arial"/>
              </a:rPr>
              <a:t>Gates before the run, after it and at the answer, plus an external rubric. No self-scoring.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11" y="2011680"/>
            <a:ext cx="2499283" cy="3291840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211" y="219456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04 · B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211" y="256032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A0A0A"/>
                </a:solidFill>
                <a:latin typeface="Arial"/>
              </a:rPr>
              <a:t>Persist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211" y="3291840"/>
            <a:ext cx="20420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A0A0A"/>
                </a:solidFill>
                <a:latin typeface="Arial"/>
              </a:rPr>
              <a:t>Sections read, result handles and provenance carry across turns, so claims stay traceable.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2356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Arial"/>
              </a:rPr>
              <a:t>EE Genie</a:t>
            </a:r>
            <a:r>
              <a:rPr sz="1600" b="0" i="0">
                <a:solidFill>
                  <a:srgbClr val="0A0A0A"/>
                </a:solidFill>
                <a:latin typeface="Arial"/>
              </a:rPr>
              <a:t> makes the LLM a better programmer. </a:t>
            </a:r>
            <a:r>
              <a:rPr sz="1600" b="1" i="0">
                <a:solidFill>
                  <a:srgbClr val="0A0A0A"/>
                </a:solidFill>
                <a:latin typeface="Arial"/>
              </a:rPr>
              <a:t>PhysEarth</a:t>
            </a:r>
            <a:r>
              <a:rPr sz="1600" b="0" i="0">
                <a:solidFill>
                  <a:srgbClr val="0A0A0A"/>
                </a:solidFill>
                <a:latin typeface="Arial"/>
              </a:rPr>
              <a:t> makes it a checked operator of trusted models.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05 · LOGIC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STEPS 0 TO 4  ·  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WHAT HAPPENS TO ONE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22B27"/>
                </a:solidFill>
                <a:latin typeface="Georgia"/>
              </a:rPr>
              <a:t>Register, plan, </a:t>
            </a:r>
            <a:r>
              <a:rPr sz="3800" b="1" i="1">
                <a:solidFill>
                  <a:srgbClr val="C4532F"/>
                </a:solidFill>
                <a:latin typeface="Georgia"/>
              </a:rPr>
              <a:t>check, report, improve.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103120"/>
            <a:ext cx="10820095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2194560"/>
            <a:ext cx="19811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A0A0A"/>
                </a:solidFill>
                <a:latin typeface="Georg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19811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</a:rPr>
              <a:t>Model card + adapter; paper by DOI or file, licence-gated.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18896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A0A0A"/>
                </a:solidFill>
                <a:latin typeface="Courier New"/>
              </a:rPr>
              <a:t>[DONE] [PROGRESS UI LATER]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9819" y="2194560"/>
            <a:ext cx="19811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A0A0A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9819" y="3200400"/>
            <a:ext cx="19811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/>
              </a:rPr>
              <a:t>Read &amp;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9819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</a:rPr>
              <a:t>Opens sections and the figure's axes and legend; each parameter's source is labelled.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9819" y="5029200"/>
            <a:ext cx="18896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A0A0A"/>
                </a:solidFill>
                <a:latin typeface="Courier New"/>
              </a:rPr>
              <a:t>[DONE] figures: SMRT paper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3838" y="2194560"/>
            <a:ext cx="19811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A0A0A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3838" y="3200400"/>
            <a:ext cx="19811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/>
              </a:rPr>
              <a:t>Check, approve,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3838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</a:rPr>
              <a:t>Range and pairing validation, human approval, output QC, results as handles.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3838" y="5029200"/>
            <a:ext cx="18896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A0A0A"/>
                </a:solidFill>
                <a:latin typeface="Courier New"/>
              </a:rPr>
              <a:t>[DONE]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7857" y="2194560"/>
            <a:ext cx="19811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A0A0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7857" y="3200400"/>
            <a:ext cx="19811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/>
              </a:rPr>
              <a:t>Report &amp;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7857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</a:rPr>
              <a:t>Chart from a spec beside the paper's figure; citation gate; declared outcome; rubric.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7857" y="5029200"/>
            <a:ext cx="18896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A0A0A"/>
                </a:solidFill>
                <a:latin typeface="Courier New"/>
              </a:rPr>
              <a:t>[DONE IN PART]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1876" y="2194560"/>
            <a:ext cx="19811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A0A0A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1876" y="3200400"/>
            <a:ext cx="19811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rial"/>
              </a:rPr>
              <a:t>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1876" y="3611880"/>
            <a:ext cx="18896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</a:rPr>
              <a:t>Failure, fix the general mechanism, regression test, human approval, re-score.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1876" y="5029200"/>
            <a:ext cx="18896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A0A0A"/>
                </a:solidFill>
                <a:latin typeface="Courier New"/>
              </a:rPr>
              <a:t>[AS PRACTICE]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25E"/>
                </a:solidFill>
                <a:latin typeface="Arial"/>
              </a:rPr>
              <a:t>Step 4 is human-gated, so it is not recursive self-improvement. The rule: never write the answer into the task, the card or the prompt.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5ACA2"/>
                </a:solidFill>
                <a:latin typeface="Courier New"/>
              </a:rPr>
              <a:t>05 · LOGIC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THE AGENT LOOP, GATES DRAWN IN  ·  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0A98A"/>
                </a:solidFill>
                <a:latin typeface="Courier New"/>
              </a:rPr>
              <a:t>GATES ARE CODE, NOT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8F6F2"/>
                </a:solidFill>
                <a:latin typeface="Georgia"/>
              </a:rPr>
              <a:t>Four gates the agent </a:t>
            </a:r>
            <a:r>
              <a:rPr sz="3800" b="1" i="1">
                <a:solidFill>
                  <a:srgbClr val="F0A98A"/>
                </a:solidFill>
                <a:latin typeface="Georgia"/>
              </a:rPr>
              <a:t>cannot skip.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499283" cy="1280160"/>
          </a:xfrm>
          <a:prstGeom prst="roundRect">
            <a:avLst>
              <a:gd name="adj" fmla="val 8571"/>
            </a:avLst>
          </a:prstGeom>
          <a:solidFill>
            <a:srgbClr val="332D28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27883" y="2212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39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7F2"/>
                </a:solidFill>
                <a:latin typeface="Arial"/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5ACA2"/>
                </a:solidFill>
                <a:latin typeface="Arial"/>
              </a:rPr>
              <a:t>paper sections, figures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03120"/>
            <a:ext cx="2499283" cy="1280160"/>
          </a:xfrm>
          <a:prstGeom prst="roundRect">
            <a:avLst>
              <a:gd name="adj" fmla="val 8571"/>
            </a:avLst>
          </a:prstGeom>
          <a:solidFill>
            <a:srgbClr val="332D28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1487" y="2212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8003" y="2377439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7F2"/>
                </a:solidFill>
                <a:latin typeface="Arial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88036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5ACA2"/>
                </a:solidFill>
                <a:latin typeface="Arial"/>
              </a:rPr>
              <a:t>runs and charts, capability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2499283" cy="1280160"/>
          </a:xfrm>
          <a:prstGeom prst="roundRect">
            <a:avLst>
              <a:gd name="adj" fmla="val 8571"/>
            </a:avLst>
          </a:prstGeom>
          <a:solidFill>
            <a:srgbClr val="F8F6F2"/>
          </a:solidFill>
          <a:ln w="127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091" y="2212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8"/>
                </a:solidFill>
                <a:latin typeface="Courier New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377439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22B27"/>
                </a:solidFill>
                <a:latin typeface="Arial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88036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ranges, legal pairs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611" y="2103120"/>
            <a:ext cx="2499283" cy="1280160"/>
          </a:xfrm>
          <a:prstGeom prst="roundRect">
            <a:avLst>
              <a:gd name="adj" fmla="val 8571"/>
            </a:avLst>
          </a:prstGeom>
          <a:solidFill>
            <a:srgbClr val="F8F6F2"/>
          </a:solidFill>
          <a:ln w="127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48695" y="2212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8"/>
                </a:solidFill>
                <a:latin typeface="Courier New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211" y="2377439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22B27"/>
                </a:solidFill>
                <a:latin typeface="Arial"/>
              </a:rPr>
              <a:t>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211" y="288036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a human, never the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57600"/>
            <a:ext cx="2499283" cy="1280160"/>
          </a:xfrm>
          <a:prstGeom prst="roundRect">
            <a:avLst>
              <a:gd name="adj" fmla="val 8571"/>
            </a:avLst>
          </a:prstGeom>
          <a:solidFill>
            <a:srgbClr val="332D28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7883" y="37673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3192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7F2"/>
                </a:solidFill>
                <a:latin typeface="Arial"/>
              </a:rPr>
              <a:t>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5ACA2"/>
                </a:solidFill>
                <a:latin typeface="Arial"/>
              </a:rPr>
              <a:t>adapter; the LLM gets a handle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9403" y="3657600"/>
            <a:ext cx="2499283" cy="1280160"/>
          </a:xfrm>
          <a:prstGeom prst="roundRect">
            <a:avLst>
              <a:gd name="adj" fmla="val 8571"/>
            </a:avLst>
          </a:prstGeom>
          <a:solidFill>
            <a:srgbClr val="F8F6F2"/>
          </a:solidFill>
          <a:ln w="127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1487" y="37673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8"/>
                </a:solidFill>
                <a:latin typeface="Courier New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8003" y="393192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22B27"/>
                </a:solidFill>
                <a:latin typeface="Arial"/>
              </a:rPr>
              <a:t>QC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8003" y="443484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declared output bounds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3657600"/>
            <a:ext cx="2499283" cy="1280160"/>
          </a:xfrm>
          <a:prstGeom prst="roundRect">
            <a:avLst>
              <a:gd name="adj" fmla="val 8571"/>
            </a:avLst>
          </a:prstGeom>
          <a:solidFill>
            <a:srgbClr val="332D28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091" y="37673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393192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7F2"/>
                </a:solidFill>
                <a:latin typeface="Arial"/>
              </a:rPr>
              <a:t>Plot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607" y="443484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5ACA2"/>
                </a:solidFill>
                <a:latin typeface="Arial"/>
              </a:rPr>
              <a:t>declarative spec over handles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611" y="3657600"/>
            <a:ext cx="2499283" cy="1280160"/>
          </a:xfrm>
          <a:prstGeom prst="roundRect">
            <a:avLst>
              <a:gd name="adj" fmla="val 8571"/>
            </a:avLst>
          </a:prstGeom>
          <a:solidFill>
            <a:srgbClr val="F8F6F2"/>
          </a:solidFill>
          <a:ln w="12700">
            <a:solidFill>
              <a:srgbClr val="F8F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48695" y="37673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8"/>
                </a:solidFill>
                <a:latin typeface="Courier New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211" y="393192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22B27"/>
                </a:solidFill>
                <a:latin typeface="Arial"/>
              </a:rPr>
              <a:t>Cite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211" y="4434840"/>
            <a:ext cx="20420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every marker must resolve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394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5ACA2"/>
                </a:solidFill>
                <a:latin typeface="Arial"/>
              </a:rPr>
              <a:t>21 tools. Ablation switches remove a gate from a YAML file, never from a prompt, so the same gate can be switched off to measure what it buys.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008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5ACA2"/>
                </a:solidFill>
                <a:latin typeface="Courier New"/>
              </a:rPr>
              <a:t>backend/physearth/harness/ · tools/ · research/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0A98A"/>
          </a:solidFill>
          <a:ln w="12700">
            <a:solidFill>
              <a:srgbClr val="F0A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211D"/>
                </a:solidFill>
                <a:latin typeface="Courier New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26211D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B5ACA2"/>
                </a:solidFill>
                <a:latin typeface="Courier New"/>
              </a:rPr>
              <a:t>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26211D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B5ACA2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5771" y="86032"/>
            <a:ext cx="5756834" cy="18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4532F"/>
                </a:solidFill>
                <a:latin typeface="Courier New"/>
              </a:rPr>
              <a:t>ARCHITECTURE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5771" y="294967"/>
            <a:ext cx="9594723" cy="442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50" b="1" i="0">
                <a:solidFill>
                  <a:srgbClr val="222B27"/>
                </a:solidFill>
                <a:latin typeface="Georgia"/>
              </a:rPr>
              <a:t>From a plausible answer to a reproducible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5771" y="725129"/>
            <a:ext cx="9594723" cy="208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The LLM proposes actions; the harness controls what may run, what counts as evidence, and what may be claimed.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1806" y="1167580"/>
            <a:ext cx="3793113" cy="4639596"/>
          </a:xfrm>
          <a:prstGeom prst="roundRect">
            <a:avLst>
              <a:gd name="adj" fmla="val 4384"/>
            </a:avLst>
          </a:prstGeom>
          <a:solidFill>
            <a:srgbClr val="EDEAE5"/>
          </a:solidFill>
          <a:ln w="12700">
            <a:solidFill>
              <a:srgbClr val="D6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286" y="1351935"/>
            <a:ext cx="3198241" cy="17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TYPICAL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286" y="1548580"/>
            <a:ext cx="3454100" cy="331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>
                <a:solidFill>
                  <a:srgbClr val="222B27"/>
                </a:solidFill>
                <a:latin typeface="Georgia"/>
              </a:rPr>
              <a:t>LLM + RAG + model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286" y="1868129"/>
            <a:ext cx="3454100" cy="18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25E"/>
                </a:solidFill>
                <a:latin typeface="Arial"/>
              </a:rPr>
              <a:t>A short answer-generation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251" y="2242983"/>
            <a:ext cx="3230223" cy="491612"/>
          </a:xfrm>
          <a:prstGeom prst="roundRect">
            <a:avLst>
              <a:gd name="adj" fmla="val 18215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51" y="2242983"/>
            <a:ext cx="3230223" cy="491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2B27"/>
                </a:solidFill>
                <a:latin typeface="Arial"/>
              </a:rPr>
              <a:t>Research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51" y="2900516"/>
            <a:ext cx="3230223" cy="491612"/>
          </a:xfrm>
          <a:prstGeom prst="roundRect">
            <a:avLst>
              <a:gd name="adj" fmla="val 18215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251" y="2900516"/>
            <a:ext cx="3230223" cy="491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2B27"/>
                </a:solidFill>
                <a:latin typeface="Arial"/>
              </a:rPr>
              <a:t>Retrieve documents (RAG)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251" y="3558048"/>
            <a:ext cx="3230223" cy="491612"/>
          </a:xfrm>
          <a:prstGeom prst="roundRect">
            <a:avLst>
              <a:gd name="adj" fmla="val 18215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51" y="3558048"/>
            <a:ext cx="3230223" cy="491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2B27"/>
                </a:solidFill>
                <a:latin typeface="Arial"/>
              </a:rPr>
              <a:t>LLM writes / calls model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251" y="4215580"/>
            <a:ext cx="3230223" cy="491612"/>
          </a:xfrm>
          <a:prstGeom prst="roundRect">
            <a:avLst>
              <a:gd name="adj" fmla="val 18215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251" y="4215580"/>
            <a:ext cx="3230223" cy="491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2B27"/>
                </a:solidFill>
                <a:latin typeface="Arial"/>
              </a:rPr>
              <a:t>Narrative answer + plot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2372" y="2746887"/>
            <a:ext cx="25585" cy="122903"/>
          </a:xfrm>
          <a:prstGeom prst="roundRect">
            <a:avLst>
              <a:gd name="adj" fmla="val 25000"/>
            </a:avLst>
          </a:prstGeom>
          <a:solidFill>
            <a:srgbClr val="9A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32372" y="3404419"/>
            <a:ext cx="25585" cy="122903"/>
          </a:xfrm>
          <a:prstGeom prst="roundRect">
            <a:avLst>
              <a:gd name="adj" fmla="val 25000"/>
            </a:avLst>
          </a:prstGeom>
          <a:solidFill>
            <a:srgbClr val="9A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7235" y="4018935"/>
            <a:ext cx="255859" cy="18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A09C"/>
                </a:solidFill>
                <a:latin typeface="Arial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251" y="4916129"/>
            <a:ext cx="3230223" cy="682112"/>
          </a:xfrm>
          <a:prstGeom prst="roundRect">
            <a:avLst>
              <a:gd name="adj" fmla="val 13128"/>
            </a:avLst>
          </a:prstGeom>
          <a:solidFill>
            <a:srgbClr val="FFF1E5"/>
          </a:solidFill>
          <a:ln w="12700">
            <a:solidFill>
              <a:srgbClr val="F0B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767" y="5014451"/>
            <a:ext cx="2942381" cy="17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4532F"/>
                </a:solidFill>
                <a:latin typeface="Courier New"/>
              </a:rPr>
              <a:t>COMMON FAILURE 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767" y="5223387"/>
            <a:ext cx="3006346" cy="3687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Arial"/>
              </a:rPr>
              <a:t>Ad-hoc parameters · no approval · weak provenance</a:t>
            </a:r>
          </a:p>
          <a:p>
            <a:pPr algn="l"/>
            <a:r>
              <a:rPr sz="1000" b="0" i="0">
                <a:solidFill>
                  <a:srgbClr val="5B625E"/>
                </a:solidFill>
                <a:latin typeface="Arial"/>
              </a:rPr>
              <a:t>Plausible-looking output can outrun its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3572" y="1259758"/>
            <a:ext cx="12792" cy="44245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8885" y="3250790"/>
            <a:ext cx="422167" cy="405580"/>
          </a:xfrm>
          <a:prstGeom prst="ellipse">
            <a:avLst/>
          </a:prstGeom>
          <a:solidFill>
            <a:srgbClr val="FAF7F2"/>
          </a:solidFill>
          <a:ln w="1270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8885" y="3250790"/>
            <a:ext cx="422167" cy="4055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4532F"/>
                </a:solidFill>
                <a:latin typeface="Courier New"/>
              </a:rPr>
              <a:t>VS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1414" y="1167580"/>
            <a:ext cx="7215231" cy="4639596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1905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0877" y="1351935"/>
            <a:ext cx="3198241" cy="17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4532F"/>
                </a:solidFill>
                <a:latin typeface="Courier New"/>
              </a:rPr>
              <a:t>PHYSEARTH-AGENT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0877" y="1548580"/>
            <a:ext cx="6780271" cy="331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>
                <a:solidFill>
                  <a:srgbClr val="222B27"/>
                </a:solidFill>
                <a:latin typeface="Georgia"/>
              </a:rPr>
              <a:t>LLM inside a scientific research harness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0877" y="1868129"/>
            <a:ext cx="3837889" cy="18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25E"/>
                </a:solidFill>
                <a:latin typeface="Arial"/>
              </a:rPr>
              <a:t>A controlled, reviewable and recoverable experiment pipeline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35885" y="1880419"/>
            <a:ext cx="115136" cy="110612"/>
          </a:xfrm>
          <a:prstGeom prst="roundRect">
            <a:avLst>
              <a:gd name="adj" fmla="val 23131"/>
            </a:avLst>
          </a:prstGeom>
          <a:solidFill>
            <a:srgbClr val="E8F0FA"/>
          </a:solidFill>
          <a:ln w="12700">
            <a:solidFill>
              <a:srgbClr val="9DB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1383" y="1868129"/>
            <a:ext cx="1023437" cy="1474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4C6A91"/>
                </a:solidFill>
                <a:latin typeface="Courier New"/>
              </a:rPr>
              <a:t>SHARED 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70406" y="1880419"/>
            <a:ext cx="115136" cy="110612"/>
          </a:xfrm>
          <a:prstGeom prst="roundRect">
            <a:avLst>
              <a:gd name="adj" fmla="val 23131"/>
            </a:avLst>
          </a:prstGeom>
          <a:solidFill>
            <a:srgbClr val="FFEEE2"/>
          </a:solidFill>
          <a:ln w="1270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2301" y="1868129"/>
            <a:ext cx="1407226" cy="1474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4532F"/>
                </a:solidFill>
                <a:latin typeface="Courier New"/>
              </a:rPr>
              <a:t>HARNESS-ADDED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44480" y="2181532"/>
            <a:ext cx="6729099" cy="467032"/>
          </a:xfrm>
          <a:prstGeom prst="roundRect">
            <a:avLst>
              <a:gd name="adj" fmla="val 19174"/>
            </a:avLst>
          </a:prstGeom>
          <a:solidFill>
            <a:srgbClr val="FFEEE2"/>
          </a:solidFill>
          <a:ln w="1270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6375" y="2249129"/>
            <a:ext cx="5756834" cy="1597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4532F"/>
                </a:solidFill>
                <a:latin typeface="Courier New"/>
              </a:rPr>
              <a:t>ADDED · EVIDENCE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6375" y="2433483"/>
            <a:ext cx="6396482" cy="17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Arial"/>
              </a:rPr>
              <a:t>Bundled papers + section-level citations · online literature · model cards · measured datasets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50877" y="2912806"/>
            <a:ext cx="1106591" cy="675967"/>
          </a:xfrm>
          <a:prstGeom prst="roundRect">
            <a:avLst>
              <a:gd name="adj" fmla="val 13247"/>
            </a:avLst>
          </a:prstGeom>
          <a:solidFill>
            <a:srgbClr val="E8F0FA"/>
          </a:solidFill>
          <a:ln w="12700">
            <a:solidFill>
              <a:srgbClr val="9DB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0877" y="2912806"/>
            <a:ext cx="1106591" cy="675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2B27"/>
                </a:solidFill>
                <a:latin typeface="Arial"/>
              </a:rPr>
              <a:t>Question +</a:t>
            </a:r>
          </a:p>
          <a:p>
            <a:pPr algn="ctr"/>
            <a:r>
              <a:rPr sz="1200" b="1" i="0">
                <a:solidFill>
                  <a:srgbClr val="222B27"/>
                </a:solidFill>
                <a:latin typeface="Arial"/>
              </a:rPr>
              <a:t>evidence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42966" y="2912806"/>
            <a:ext cx="1272899" cy="675967"/>
          </a:xfrm>
          <a:prstGeom prst="roundRect">
            <a:avLst>
              <a:gd name="adj" fmla="val 13247"/>
            </a:avLst>
          </a:prstGeom>
          <a:solidFill>
            <a:srgbClr val="FFEEE2"/>
          </a:solidFill>
          <a:ln w="1270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2966" y="2974258"/>
            <a:ext cx="1272899" cy="344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2B27"/>
                </a:solidFill>
                <a:latin typeface="Arial"/>
              </a:rPr>
              <a:t>Research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966" y="3306096"/>
            <a:ext cx="1272899" cy="270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25E"/>
                </a:solidFill>
                <a:latin typeface="Arial"/>
              </a:rPr>
              <a:t>pseudo-preview</a:t>
            </a:r>
          </a:p>
          <a:p>
            <a:pPr algn="ctr"/>
            <a:r>
              <a:rPr sz="950" b="0" i="0">
                <a:solidFill>
                  <a:srgbClr val="5B625E"/>
                </a:solidFill>
                <a:latin typeface="Arial"/>
              </a:rPr>
              <a:t>human approval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94968" y="2912806"/>
            <a:ext cx="1272899" cy="675967"/>
          </a:xfrm>
          <a:prstGeom prst="roundRect">
            <a:avLst>
              <a:gd name="adj" fmla="val 13247"/>
            </a:avLst>
          </a:prstGeom>
          <a:solidFill>
            <a:srgbClr val="FFEEE2"/>
          </a:solidFill>
          <a:ln w="1270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4968" y="2974258"/>
            <a:ext cx="1272899" cy="344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2B27"/>
                </a:solidFill>
                <a:latin typeface="Arial"/>
              </a:rPr>
              <a:t>Registered</a:t>
            </a:r>
          </a:p>
          <a:p>
            <a:pPr algn="ctr"/>
            <a:r>
              <a:rPr sz="1200" b="1" i="0">
                <a:solidFill>
                  <a:srgbClr val="222B27"/>
                </a:solidFill>
                <a:latin typeface="Arial"/>
              </a:rPr>
              <a:t>physical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4968" y="3306096"/>
            <a:ext cx="1272899" cy="270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25E"/>
                </a:solidFill>
                <a:latin typeface="Arial"/>
              </a:rPr>
              <a:t>validated inputs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53366" y="2912806"/>
            <a:ext cx="1112987" cy="675967"/>
          </a:xfrm>
          <a:prstGeom prst="roundRect">
            <a:avLst>
              <a:gd name="adj" fmla="val 13247"/>
            </a:avLst>
          </a:prstGeom>
          <a:solidFill>
            <a:srgbClr val="FFEEE2"/>
          </a:solidFill>
          <a:ln w="1270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53366" y="2974258"/>
            <a:ext cx="1112987" cy="344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2B27"/>
                </a:solidFill>
                <a:latin typeface="Arial"/>
              </a:rPr>
              <a:t>Result +</a:t>
            </a:r>
          </a:p>
          <a:p>
            <a:pPr algn="ctr"/>
            <a:r>
              <a:rPr sz="1200" b="1" i="0">
                <a:solidFill>
                  <a:srgbClr val="222B27"/>
                </a:solidFill>
                <a:latin typeface="Arial"/>
              </a:rPr>
              <a:t>Figure QA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3366" y="3306096"/>
            <a:ext cx="1112987" cy="270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25E"/>
                </a:solidFill>
                <a:latin typeface="Arial"/>
              </a:rPr>
              <a:t>auto-redraw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45455" y="2912806"/>
            <a:ext cx="1228124" cy="675967"/>
          </a:xfrm>
          <a:prstGeom prst="roundRect">
            <a:avLst>
              <a:gd name="adj" fmla="val 13247"/>
            </a:avLst>
          </a:prstGeom>
          <a:solidFill>
            <a:srgbClr val="FFEEE2"/>
          </a:solidFill>
          <a:ln w="1270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45455" y="2974258"/>
            <a:ext cx="1228124" cy="344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2B27"/>
                </a:solidFill>
                <a:latin typeface="Arial"/>
              </a:rPr>
              <a:t>Cited report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45455" y="3306096"/>
            <a:ext cx="1228124" cy="270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25E"/>
                </a:solidFill>
                <a:latin typeface="Arial"/>
              </a:rPr>
              <a:t>claims bound to</a:t>
            </a:r>
          </a:p>
          <a:p>
            <a:pPr algn="ctr"/>
            <a:r>
              <a:rPr sz="950" b="0" i="0">
                <a:solidFill>
                  <a:srgbClr val="5B625E"/>
                </a:solidFill>
                <a:latin typeface="Arial"/>
              </a:rPr>
              <a:t>runs + sources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57468" y="3232354"/>
            <a:ext cx="185497" cy="30725"/>
          </a:xfrm>
          <a:prstGeom prst="roundRect">
            <a:avLst>
              <a:gd name="adj" fmla="val 20817"/>
            </a:avLst>
          </a:prstGeom>
          <a:solidFill>
            <a:srgbClr val="E0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515866" y="3232354"/>
            <a:ext cx="179101" cy="30725"/>
          </a:xfrm>
          <a:prstGeom prst="roundRect">
            <a:avLst>
              <a:gd name="adj" fmla="val 20817"/>
            </a:avLst>
          </a:prstGeom>
          <a:solidFill>
            <a:srgbClr val="E0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67868" y="3232354"/>
            <a:ext cx="185497" cy="30725"/>
          </a:xfrm>
          <a:prstGeom prst="roundRect">
            <a:avLst>
              <a:gd name="adj" fmla="val 20817"/>
            </a:avLst>
          </a:prstGeom>
          <a:solidFill>
            <a:srgbClr val="E0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08785" y="3115596"/>
            <a:ext cx="281445" cy="245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 i="0">
                <a:solidFill>
                  <a:srgbClr val="E07B57"/>
                </a:solidFill>
                <a:latin typeface="Arial"/>
              </a:rPr>
              <a:t>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44480" y="3896032"/>
            <a:ext cx="6729099" cy="1235177"/>
          </a:xfrm>
          <a:prstGeom prst="roundRect">
            <a:avLst>
              <a:gd name="adj" fmla="val 7250"/>
            </a:avLst>
          </a:prstGeom>
          <a:solidFill>
            <a:srgbClr val="FFEEE2"/>
          </a:solidFill>
          <a:ln w="12700">
            <a:solidFill>
              <a:srgbClr val="E07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36375" y="4006645"/>
            <a:ext cx="6268552" cy="1597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4532F"/>
                </a:solidFill>
                <a:latin typeface="Courier New"/>
              </a:rPr>
              <a:t>WHAT PHYSEARTH ADDS · HARNESS CONTROL PLANE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36375" y="4277032"/>
            <a:ext cx="1496776" cy="325693"/>
          </a:xfrm>
          <a:prstGeom prst="roundRect">
            <a:avLst>
              <a:gd name="adj" fmla="val 19639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36375" y="4277032"/>
            <a:ext cx="1496776" cy="325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22B27"/>
                </a:solidFill>
                <a:latin typeface="Arial"/>
              </a:rPr>
              <a:t>Workflow + recovery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54685" y="4277032"/>
            <a:ext cx="1496776" cy="325693"/>
          </a:xfrm>
          <a:prstGeom prst="roundRect">
            <a:avLst>
              <a:gd name="adj" fmla="val 19639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54685" y="4277032"/>
            <a:ext cx="1496776" cy="325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22B27"/>
                </a:solidFill>
                <a:latin typeface="Arial"/>
              </a:rPr>
              <a:t>Human approval gates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72995" y="4277032"/>
            <a:ext cx="1496776" cy="325693"/>
          </a:xfrm>
          <a:prstGeom prst="roundRect">
            <a:avLst>
              <a:gd name="adj" fmla="val 19639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72995" y="4277032"/>
            <a:ext cx="1496776" cy="325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22B27"/>
                </a:solidFill>
                <a:latin typeface="Arial"/>
              </a:rPr>
              <a:t>Physical validation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91305" y="4277032"/>
            <a:ext cx="1496776" cy="325693"/>
          </a:xfrm>
          <a:prstGeom prst="roundRect">
            <a:avLst>
              <a:gd name="adj" fmla="val 19639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91305" y="4277032"/>
            <a:ext cx="1496776" cy="325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22B27"/>
                </a:solidFill>
                <a:latin typeface="Arial"/>
              </a:rPr>
              <a:t>Model registry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36375" y="4694903"/>
            <a:ext cx="1496776" cy="325693"/>
          </a:xfrm>
          <a:prstGeom prst="roundRect">
            <a:avLst>
              <a:gd name="adj" fmla="val 19639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36375" y="4694903"/>
            <a:ext cx="1496776" cy="325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22B27"/>
                </a:solidFill>
                <a:latin typeface="Arial"/>
              </a:rPr>
              <a:t>Result store + replay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54685" y="4694903"/>
            <a:ext cx="1496776" cy="325693"/>
          </a:xfrm>
          <a:prstGeom prst="roundRect">
            <a:avLst>
              <a:gd name="adj" fmla="val 19639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54685" y="4694903"/>
            <a:ext cx="1496776" cy="325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22B27"/>
                </a:solidFill>
                <a:latin typeface="Arial"/>
              </a:rPr>
              <a:t>Figure quality review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72995" y="4694903"/>
            <a:ext cx="1496776" cy="325693"/>
          </a:xfrm>
          <a:prstGeom prst="roundRect">
            <a:avLst>
              <a:gd name="adj" fmla="val 19639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72995" y="4694903"/>
            <a:ext cx="1496776" cy="325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22B27"/>
                </a:solidFill>
                <a:latin typeface="Arial"/>
              </a:rPr>
              <a:t>Citation integrity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91305" y="4694903"/>
            <a:ext cx="1496776" cy="325693"/>
          </a:xfrm>
          <a:prstGeom prst="roundRect">
            <a:avLst>
              <a:gd name="adj" fmla="val 19639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91305" y="4694903"/>
            <a:ext cx="1496776" cy="3256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22B27"/>
                </a:solidFill>
                <a:latin typeface="Arial"/>
              </a:rPr>
              <a:t>Audit trace + memory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50877" y="5272548"/>
            <a:ext cx="6716306" cy="18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625E"/>
                </a:solidFill>
                <a:latin typeface="Courier New"/>
              </a:rPr>
              <a:t>LLM: proposes and interprets      HARNESS: authorizes, validates, records and recovers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1806" y="6022258"/>
            <a:ext cx="5660886" cy="626806"/>
          </a:xfrm>
          <a:prstGeom prst="roundRect">
            <a:avLst>
              <a:gd name="adj" fmla="val 22450"/>
            </a:avLst>
          </a:prstGeom>
          <a:solidFill>
            <a:srgbClr val="EAF4EC"/>
          </a:solidFill>
          <a:ln w="12700">
            <a:solidFill>
              <a:srgbClr val="8DBB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1718" y="6188177"/>
            <a:ext cx="307031" cy="294967"/>
          </a:xfrm>
          <a:prstGeom prst="ellipse">
            <a:avLst/>
          </a:prstGeom>
          <a:solidFill>
            <a:srgbClr val="4C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1718" y="6188177"/>
            <a:ext cx="307031" cy="294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6679" y="6096000"/>
            <a:ext cx="4989256" cy="245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0402B"/>
                </a:solidFill>
                <a:latin typeface="Georgia"/>
              </a:rPr>
              <a:t>Process-driven reproduction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679" y="6354096"/>
            <a:ext cx="5053220" cy="18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Arial"/>
              </a:rPr>
              <a:t>Reviewable plans → repeatable model runs → checked figures → recoverable execution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91794" y="6022258"/>
            <a:ext cx="5724851" cy="626806"/>
          </a:xfrm>
          <a:prstGeom prst="roundRect">
            <a:avLst>
              <a:gd name="adj" fmla="val 22450"/>
            </a:avLst>
          </a:prstGeom>
          <a:solidFill>
            <a:srgbClr val="EFEBF8"/>
          </a:solidFill>
          <a:ln w="12700">
            <a:solidFill>
              <a:srgbClr val="B3A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351706" y="6188177"/>
            <a:ext cx="307031" cy="294967"/>
          </a:xfrm>
          <a:prstGeom prst="ellipse">
            <a:avLst/>
          </a:prstGeom>
          <a:solidFill>
            <a:srgbClr val="6A5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1706" y="6188177"/>
            <a:ext cx="307031" cy="294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86667" y="6096000"/>
            <a:ext cx="4989256" cy="245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72B66"/>
                </a:solidFill>
                <a:latin typeface="Georgia"/>
              </a:rPr>
              <a:t>Evidence-constrained trust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86667" y="6354096"/>
            <a:ext cx="5053220" cy="184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25E"/>
                </a:solidFill>
                <a:latin typeface="Arial"/>
              </a:rPr>
              <a:t>Every conclusion is traceable to literature, model declarations and actual outputs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55680" y="1371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06 · PROTOCOL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SMRT DEMO · STEP 1 OF 3  ·  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A · REGISTER &amp;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22B27"/>
                </a:solidFill>
                <a:latin typeface="Georgia"/>
              </a:rPr>
              <a:t>Register SMRT. </a:t>
            </a:r>
            <a:r>
              <a:rPr sz="3400" b="1" i="1">
                <a:solidFill>
                  <a:srgbClr val="C4532F"/>
                </a:solidFill>
                <a:latin typeface="Georgia"/>
              </a:rPr>
              <a:t>What proves it worked?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YOU HAND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926080" cy="82296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ourier New"/>
              </a:rPr>
              <a:t>model_card.yaml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25E"/>
                </a:solidFill>
                <a:latin typeface="Arial"/>
              </a:rPr>
              <a:t>parameter ranges, legal pairs, output bounds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91839"/>
            <a:ext cx="2926080" cy="82296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Courier New"/>
              </a:rPr>
              <a:t>adapter.py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25E"/>
                </a:solidFill>
                <a:latin typeface="Arial"/>
              </a:rPr>
              <a:t>run(spec) around the upstream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25E"/>
                </a:solidFill>
                <a:latin typeface="Courier New"/>
              </a:rPr>
              <a:t>Check: python -m physearth.registry.check</a:t>
            </a:r>
          </a:p>
          <a:p>
            <a:pPr algn="l"/>
            <a:r>
              <a:rPr sz="900" b="0" i="0">
                <a:solidFill>
                  <a:srgbClr val="5B625E"/>
                </a:solidFill>
                <a:latin typeface="Courier New"/>
              </a:rPr>
              <a:t>Load: PHYSEARTH_MODEL_PATH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37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C4532F"/>
                </a:solidFill>
                <a:latin typeface="Georgia"/>
              </a:rPr>
              <a:t>20/20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60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25E"/>
                </a:solidFill>
                <a:latin typeface="Arial"/>
              </a:rPr>
              <a:t>checks pass · 0 LLM calls · deterministic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01168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EVIDENCE IT SHOWS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0" y="2313432"/>
            <a:ext cx="7589520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0" y="2350008"/>
            <a:ext cx="9144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A1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350008"/>
            <a:ext cx="1828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Is the declaration legal?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350008"/>
            <a:ext cx="42976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7/7: six registered cards pass; one deliberately broken card is rejected before registration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3227832"/>
            <a:ext cx="75895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3264408"/>
            <a:ext cx="9144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A2 Adapter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264408"/>
            <a:ext cx="1828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Does it compute what the authors' code computes?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64408"/>
            <a:ext cx="42976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9 tasks, 38 checks; SMRT matches upstream to nine decimals; closed-form identities hold for tau-omega and water cloud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0" y="4142232"/>
            <a:ext cx="75895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0" y="4178808"/>
            <a:ext cx="9144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A3 Guards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178808"/>
            <a:ext cx="1828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Does the system enforce the card?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178808"/>
            <a:ext cx="42976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4/4: a run succeeds, an identical replay hashes the same, an out-of-range call is refused before it runs, a run is blocked until a human approves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0" y="5056632"/>
            <a:ext cx="75895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0" y="5093208"/>
            <a:ext cx="9144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Probe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5093208"/>
            <a:ext cx="18288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Does the agent respect it?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093208"/>
            <a:ext cx="42976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Density 2000 kg/m3 is declined, citing the card's 917 kg/m3 bound, instead of returning a curve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114800" y="5971032"/>
            <a:ext cx="75895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64008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Fixtures: models/examples/toy_model · tasks evaluation/tasks/tier0 · [DONE]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07 · PROTOCOL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SMRT DEMO · STEP 2 OF 3  ·  10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B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22B27"/>
                </a:solidFill>
                <a:latin typeface="Georgia"/>
              </a:rPr>
              <a:t>Reproduce Figure 3. </a:t>
            </a:r>
            <a:r>
              <a:rPr sz="3400" b="1" i="1">
                <a:solidFill>
                  <a:srgbClr val="C4532F"/>
                </a:solidFill>
                <a:latin typeface="Georgia"/>
              </a:rPr>
              <a:t>What approves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920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QUESTION IT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92024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HOW IT IS SCORED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19202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STATUS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221992"/>
            <a:ext cx="10972800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258568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Execution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258568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Did the run finish?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58568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Completed vs stopped by a stop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258568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[DONE]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807208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843784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Figure: visual 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843784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Same curves, order, grouping as the paper?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843784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Label-blinded judge, four dimensions scored 0-2; pass needs line count and patterns at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843784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[DONE]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392424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42900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Figure: numeric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29000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How far from the authors' own code?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429000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Normalised RMSE on the notebook grid, as the agent chose and with the notebook's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429000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[1 WK]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977639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014215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Provenance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014215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Which values were assumed?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014215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Each parameter labelled; labels cross-checked against defaults the system recorded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4014215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[LABELS] [CHECK 1 WK]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4562855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4599432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Report judge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4599432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Is the write-up true and calibrated?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599432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Rubric dimensions 0-2; factuality must be 2; outcome declared as reproduced, partial, not identifiable or failed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599432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[DONE]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514807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5184648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5184648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Illegal calls executed? False premise caught?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5184648"/>
            <a:ext cx="4297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Recomputed from the card, whether or not a gate was 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5184648"/>
            <a:ext cx="1554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[DONE]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5733288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58064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Every metric is recomputed from the recorded run, never from what the harness decided at the time. ThinkGeo and Earth-Bench score tool choice and final answer; this adds configuration fidelity and parameter provenance.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07 · PROTOCOL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COMPARED WITH WHOM?  ·  11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B ·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B27"/>
                </a:solidFill>
                <a:latin typeface="Georgia"/>
              </a:rPr>
              <a:t>Same task, same scorer, </a:t>
            </a:r>
            <a:r>
              <a:rPr sz="3200" b="1" i="1">
                <a:solidFill>
                  <a:srgbClr val="C4532F"/>
                </a:solidFill>
                <a:latin typeface="Georgia"/>
              </a:rPr>
              <a:t>different operator.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COMPARATOR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011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01168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WHAT IT TELLS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20116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STATUS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313432"/>
            <a:ext cx="10972800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350008"/>
            <a:ext cx="20116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Direct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50008"/>
            <a:ext cx="31089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Same Qwen and tools, harness switched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350008"/>
            <a:ext cx="34747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What the gates buy on one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350008"/>
            <a:ext cx="1645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[RE-RUN 1 WK]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971800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008376"/>
            <a:ext cx="20116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Other LLMs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008376"/>
            <a:ext cx="31089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DeepSeek, GLM, GPT-5.5 with the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008376"/>
            <a:ext cx="34747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Whether the checks depend on a strong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008376"/>
            <a:ext cx="1645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[1 WK]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630168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666744"/>
            <a:ext cx="20116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Claude Code, Codex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666744"/>
            <a:ext cx="31089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Raw coding agent on the same question, then with our plugin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66744"/>
            <a:ext cx="34747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Flexibility versus silent failure; what the plugin adds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666744"/>
            <a:ext cx="1645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[LATER]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288536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4389120"/>
            <a:ext cx="50532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45960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25E"/>
                </a:solidFill>
                <a:latin typeface="Courier New"/>
              </a:rPr>
              <a:t>EARLIER BUILD · 48-RUN ABLATION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45960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/>
              </a:rPr>
              <a:t>0% vs 17%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45960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Arial"/>
              </a:rPr>
              <a:t>illegal calls executed, with the harness vs without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13340" y="4389120"/>
            <a:ext cx="50532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1940" y="4526280"/>
            <a:ext cx="45960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25E"/>
                </a:solidFill>
                <a:latin typeface="Courier New"/>
              </a:rPr>
              <a:t>EARLIER BUILD · 48-RUN ABLATION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1940" y="4846320"/>
            <a:ext cx="45960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A0A0A"/>
                </a:solidFill>
                <a:latin typeface="Arial"/>
              </a:rPr>
              <a:t>100% vs 67%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1940" y="5577840"/>
            <a:ext cx="45960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A0A0A"/>
                </a:solidFill>
                <a:latin typeface="Arial"/>
              </a:rPr>
              <a:t>citations that resolve, with vs without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40881" y="4389120"/>
            <a:ext cx="50532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69481" y="4526280"/>
            <a:ext cx="45960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25E"/>
                </a:solidFill>
                <a:latin typeface="Courier New"/>
              </a:rPr>
              <a:t>FAIRNESS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69481" y="4846320"/>
            <a:ext cx="45960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/>
              </a:rPr>
              <a:t>Compare only identical task, prompt profile and build. Old records stay for audit and are never pooled.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008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Earlier-build numbers: records no longer in the tree; re-run pending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08 · PROTOCOL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SMRT DEMO · STEP 3 OF 3  ·  12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C · AFFORD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22B27"/>
                </a:solidFill>
                <a:latin typeface="Georgia"/>
              </a:rPr>
              <a:t>What does a trusted run </a:t>
            </a:r>
            <a:r>
              <a:rPr sz="3800" b="1" i="1">
                <a:solidFill>
                  <a:srgbClr val="C4532F"/>
                </a:solidFill>
                <a:latin typeface="Georgia"/>
              </a:rPr>
              <a:t>cost?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103120"/>
            <a:ext cx="3362858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2194560"/>
            <a:ext cx="33628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0A0A0A"/>
                </a:solidFill>
                <a:latin typeface="Georgia"/>
              </a:rPr>
              <a:t>4-5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Arial"/>
              </a:rPr>
              <a:t>minutes per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Q1, harness on, qwen-plus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14418" y="2103120"/>
            <a:ext cx="3362858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14418" y="2194560"/>
            <a:ext cx="33628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0A0A0A"/>
                </a:solidFill>
                <a:latin typeface="Georgia"/>
              </a:rPr>
              <a:t>0.7M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347472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Arial"/>
              </a:rPr>
              <a:t>tokens per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4418" y="384048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0.65-0.74M, full pipeline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43036" y="2103120"/>
            <a:ext cx="3362859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43036" y="2194560"/>
            <a:ext cx="33628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0A0A0A"/>
                </a:solidFill>
                <a:latin typeface="Georgia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47472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  <a:latin typeface="Arial"/>
              </a:rPr>
              <a:t>LLM calls per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3036" y="384048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26-28 observed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MEASURED  [DONE]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892040"/>
            <a:ext cx="512064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946903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Wall-clock time, LLM calls, tokens per run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5303520"/>
            <a:ext cx="512064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5358383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Per-turn and per-session budgets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5715000"/>
            <a:ext cx="512064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576986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Prompt grows from about 14k to 39k tokens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126479"/>
            <a:ext cx="512064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0936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USER EXPERIENCE  [LATER]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9360" y="4892040"/>
            <a:ext cx="521208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09360" y="4946903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Time to first figure, approvals needed, plan edits made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9360" y="5303520"/>
            <a:ext cx="521208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0" y="5358383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One human review per LLM and prompt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09360" y="5715000"/>
            <a:ext cx="521208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5769864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Baseline cost to be re-measured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09360" y="6126479"/>
            <a:ext cx="521208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09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SMRT FIGURE 3 · Q1  ·  13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B · THE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22B27"/>
                </a:solidFill>
                <a:latin typeface="Georgia"/>
              </a:rPr>
              <a:t>Same six curves, </a:t>
            </a:r>
            <a:r>
              <a:rPr sz="3800" b="1" i="1">
                <a:solidFill>
                  <a:srgbClr val="C4532F"/>
                </a:solidFill>
                <a:latin typeface="Georgia"/>
              </a:rPr>
              <a:t>same grouping.</a:t>
            </a:r>
          </a:p>
        </p:txBody>
      </p:sp>
      <p:pic>
        <p:nvPicPr>
          <p:cNvPr id="6" name="Picture 5" descr="paper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3429000" cy="23382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6634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25E"/>
                </a:solidFill>
                <a:latin typeface="Courier New"/>
              </a:rPr>
              <a:t>PAPER · PICARD ET AL. 2018 · CC BY 4.0</a:t>
            </a:r>
          </a:p>
        </p:txBody>
      </p:sp>
      <p:pic>
        <p:nvPicPr>
          <p:cNvPr id="8" name="Picture 7" descr="agent_fi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011680"/>
            <a:ext cx="4206240" cy="22454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43400" y="44348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25E"/>
                </a:solidFill>
                <a:latin typeface="Courier New"/>
              </a:rPr>
              <a:t>AGENT · QWEN-PLUS, RUN 1 · DRAWN FROM A SPEC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0" y="2011680"/>
            <a:ext cx="2468880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52560" y="208483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A0A0A"/>
                </a:solidFill>
                <a:latin typeface="Georgia"/>
              </a:rPr>
              <a:t>3/3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432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25E"/>
                </a:solidFill>
                <a:latin typeface="Arial"/>
              </a:rPr>
              <a:t>runs produced the figure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" y="3200400"/>
            <a:ext cx="2468880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52560" y="327355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A0A0A"/>
                </a:solidFill>
                <a:latin typeface="Georgia"/>
              </a:rPr>
              <a:t>8/8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9319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25E"/>
                </a:solidFill>
                <a:latin typeface="Arial"/>
              </a:rPr>
              <a:t>visual judge, each run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4389120"/>
            <a:ext cx="2468880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52560" y="446227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A0A0A"/>
                </a:solidFill>
                <a:latin typeface="Georgia"/>
              </a:rPr>
              <a:t>4/6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1206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25E"/>
                </a:solidFill>
                <a:latin typeface="Arial"/>
              </a:rPr>
              <a:t>curves within 3-4% of the authors'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Not pixel-identical, and not meant to be: the judge ignores style. The two sticky curves are about 12% off because the paper never states stickiness.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09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SUCCESS, PARTIAL, FAILED  ·  14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B · WHAT WE CAN AND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222B27"/>
                </a:solidFill>
                <a:latin typeface="Georgia"/>
              </a:rPr>
              <a:t>Success, partial, </a:t>
            </a:r>
            <a:r>
              <a:rPr sz="3800" b="1" i="1">
                <a:solidFill>
                  <a:srgbClr val="C4532F"/>
                </a:solidFill>
                <a:latin typeface="Georgia"/>
              </a:rPr>
              <a:t>and what failed.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505322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5045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Courier New"/>
              </a:rPr>
              <a:t>SUCCESS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2651760"/>
            <a:ext cx="450458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2706624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Fig. 3 figure in 3/3 runs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3520439"/>
            <a:ext cx="450458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3575303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Visual judge 8, 8, 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4389120"/>
            <a:ext cx="450458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4443983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Refuses density above ice and an illegal model pairing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257800"/>
            <a:ext cx="450458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13340" y="2011680"/>
            <a:ext cx="505322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7660" y="2194560"/>
            <a:ext cx="45045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Courier New"/>
              </a:rPr>
              <a:t>PARTIAL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7660" y="2651760"/>
            <a:ext cx="4504581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87660" y="2706624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Numbers: 4/6 curves within 3-4%; sticky pair about 12% off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87660" y="3520439"/>
            <a:ext cx="4504581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87660" y="3575303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Reports scored 6, 6, 5 of 10, pass mark 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87660" y="4389120"/>
            <a:ext cx="4504581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87660" y="4443983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Weak factuality in the write-up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87660" y="5257800"/>
            <a:ext cx="4504581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340881" y="2011680"/>
            <a:ext cx="5053220" cy="3383280"/>
          </a:xfrm>
          <a:prstGeom prst="roundRect">
            <a:avLst>
              <a:gd name="adj" fmla="val 4324"/>
            </a:avLst>
          </a:prstGeom>
          <a:solidFill>
            <a:srgbClr val="2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5201" y="2194560"/>
            <a:ext cx="45045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FAILED, AND LEARNED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615201" y="2651760"/>
            <a:ext cx="4504581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615201" y="2706624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Direct-LLM baseline stopped after one page: fixed, with a test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615201" y="3520439"/>
            <a:ext cx="4504581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615201" y="3575303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Stickiness was an unlabelled default in 3/3 runs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615201" y="4389120"/>
            <a:ext cx="4504581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615201" y="4443983"/>
            <a:ext cx="45045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Fig. 6 needs MEMLS; PROSAIL inversion unsupported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615201" y="5257800"/>
            <a:ext cx="4504581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5669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25E"/>
                </a:solidFill>
                <a:latin typeface="Arial"/>
              </a:rPr>
              <a:t>Pilot: Q1 only, qwen-plus, judge claude-opus-5, three repeats. Main experiment with the direct LLM, robustness across LLMs, and Fig. 4a/4b are next week's runs [1 WK]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8F6F2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25E"/>
                </a:solidFill>
                <a:latin typeface="Courier New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5ACA2"/>
                </a:solidFill>
                <a:latin typeface="Courier New"/>
              </a:rPr>
              <a:t>10 · LIVE DEMO (VIDEO)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ONE SERVER, THREE HOSTS  ·  15 / 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6949440" cy="3909060"/>
          </a:xfrm>
          <a:prstGeom prst="roundRect">
            <a:avLst>
              <a:gd name="adj" fmla="val 2807"/>
            </a:avLst>
          </a:prstGeom>
          <a:solidFill>
            <a:srgbClr val="332D28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B5ACA2"/>
                </a:solidFill>
                <a:latin typeface="Courier New"/>
              </a:rPr>
              <a:t>INSERT THE DEMO RECORDING HERE</a:t>
            </a:r>
          </a:p>
          <a:p>
            <a:pPr algn="ctr"/>
            <a:r>
              <a:rPr sz="1200" b="0" i="0">
                <a:solidFill>
                  <a:srgbClr val="B5ACA2"/>
                </a:solidFill>
                <a:latin typeface="Courier New"/>
              </a:rPr>
              <a:t>(Insert &gt; Video, or play deck/media/demo.mp4)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097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AFAF8"/>
                </a:solidFill>
                <a:latin typeface="Courier New"/>
              </a:rPr>
              <a:t>THREE BEATS, ABOUT 2 MIN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38160" y="1554480"/>
            <a:ext cx="3383280" cy="0"/>
          </a:xfrm>
          <a:prstGeom prst="line">
            <a:avLst/>
          </a:prstGeom>
          <a:ln w="12700">
            <a:solidFill>
              <a:srgbClr val="FA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0" y="1664207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8"/>
                </a:solidFill>
                <a:latin typeface="Arial"/>
              </a:rPr>
              <a:t>1 ·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574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5ACA2"/>
                </a:solidFill>
                <a:latin typeface="Arial"/>
              </a:rPr>
              <a:t>Register toy_model, an out-of-range call is refused with the card's reason, then a cited run.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38160" y="2926080"/>
            <a:ext cx="3383280" cy="0"/>
          </a:xfrm>
          <a:prstGeom prst="line">
            <a:avLst/>
          </a:prstGeom>
          <a:ln w="12700">
            <a:solidFill>
              <a:srgbClr val="FA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38160" y="30358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8"/>
                </a:solidFill>
                <a:latin typeface="Arial"/>
              </a:rPr>
              <a:t>2 · Claude Code plugin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4290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5ACA2"/>
                </a:solidFill>
                <a:latin typeface="Arial"/>
              </a:rPr>
              <a:t>Ask Q1. The approval gate holds, then a figure and a cited answer.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4297680"/>
            <a:ext cx="3383280" cy="0"/>
          </a:xfrm>
          <a:prstGeom prst="line">
            <a:avLst/>
          </a:prstGeom>
          <a:ln w="12700">
            <a:solidFill>
              <a:srgbClr val="FAF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4407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AFAF8"/>
                </a:solidFill>
                <a:latin typeface="Arial"/>
              </a:rPr>
              <a:t>3 · Codex, DeepSeek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006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5ACA2"/>
                </a:solidFill>
                <a:latin typeface="Arial"/>
              </a:rPr>
              <a:t>A 10-second cut of the same tools: one server, three hosts.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0A98A"/>
          </a:solidFill>
          <a:ln w="12700">
            <a:solidFill>
              <a:srgbClr val="F0A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211D"/>
                </a:solidFill>
                <a:latin typeface="Courier New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F0A98A"/>
          </a:solidFill>
          <a:ln w="12700">
            <a:solidFill>
              <a:srgbClr val="F0A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6211D"/>
                </a:solidFill>
                <a:latin typeface="Courier New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26211D"/>
          </a:solidFill>
          <a:ln w="12700">
            <a:solidFill>
              <a:srgbClr val="4A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B5ACA2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11 ·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WHAT YOU CAN TAKE AND RUN  ·  16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22B27"/>
                </a:solidFill>
                <a:latin typeface="Georgia"/>
              </a:rPr>
              <a:t>Five things, </a:t>
            </a:r>
            <a:r>
              <a:rPr sz="3400" b="1" i="1">
                <a:solidFill>
                  <a:srgbClr val="C4532F"/>
                </a:solidFill>
                <a:latin typeface="Georgia"/>
              </a:rPr>
              <a:t>open source.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377440"/>
            <a:ext cx="45720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243230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The agent and Studio (ModelScope)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035808"/>
            <a:ext cx="45720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09067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The registration contract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694176"/>
            <a:ext cx="45720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749039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The evaluation protocol: tasks, judge standards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352544"/>
            <a:ext cx="45720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407407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The test suite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5010912"/>
            <a:ext cx="45720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5065776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B27"/>
                </a:solidFill>
                <a:latin typeface="Arial"/>
              </a:rPr>
              <a:t>Host plugins [1 WK]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669279"/>
            <a:ext cx="45720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52160" y="9144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25E"/>
                </a:solidFill>
                <a:latin typeface="Courier New"/>
              </a:rPr>
              <a:t>ONE MCP SERVER · THREE HOSTS  [1 WK]  (static; the HTML deck animates it)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743200"/>
            <a:ext cx="2103120" cy="1737360"/>
          </a:xfrm>
          <a:prstGeom prst="roundRect">
            <a:avLst>
              <a:gd name="adj" fmla="val 6315"/>
            </a:avLst>
          </a:prstGeom>
          <a:solidFill>
            <a:srgbClr val="2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880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8C8C6"/>
                </a:solidFill>
                <a:latin typeface="Courier New"/>
              </a:rPr>
              <a:t>MCP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0040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physearth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404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8C8C6"/>
                </a:solidFill>
                <a:latin typeface="Arial"/>
              </a:rPr>
              <a:t>register · plan · validate · run · verify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955279" y="1828800"/>
            <a:ext cx="1005841" cy="1783080"/>
          </a:xfrm>
          <a:prstGeom prst="line">
            <a:avLst/>
          </a:prstGeom>
          <a:ln w="19050">
            <a:solidFill>
              <a:srgbClr val="C453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61120" y="1371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C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4813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Claude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01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3D5C8"/>
                </a:solidFill>
                <a:latin typeface="Courier New"/>
              </a:rPr>
              <a:t>plugin/claude-geoai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55279" y="3611880"/>
            <a:ext cx="1005841" cy="0"/>
          </a:xfrm>
          <a:prstGeom prst="line">
            <a:avLst/>
          </a:prstGeom>
          <a:ln w="19050">
            <a:solidFill>
              <a:srgbClr val="C453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61120" y="31546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C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32644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Codex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85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3D5C8"/>
                </a:solidFill>
                <a:latin typeface="Courier New"/>
              </a:rPr>
              <a:t>plugin/codex-geoai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55279" y="3611880"/>
            <a:ext cx="1005841" cy="1783080"/>
          </a:xfrm>
          <a:prstGeom prst="line">
            <a:avLst/>
          </a:prstGeom>
          <a:ln w="19050">
            <a:solidFill>
              <a:srgbClr val="C453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61120" y="49377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C4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0474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DeepSeek Harness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4681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3D5C8"/>
                </a:solidFill>
                <a:latin typeface="Courier New"/>
              </a:rPr>
              <a:t>plugin/dsh-geoai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12 · NEXT AND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FROM PLUGGING IN MODELS TO PLUGGING IN THEORIES  ·  17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280160"/>
            <a:ext cx="48463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335024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B27"/>
                </a:solidFill>
                <a:latin typeface="Arial"/>
              </a:rPr>
              <a:t>Numeric-claim gate: every number tied to a stored result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029967"/>
            <a:ext cx="48463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084831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B27"/>
                </a:solidFill>
                <a:latin typeface="Arial"/>
              </a:rPr>
              <a:t>Numeric score against the authors' notebook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779776"/>
            <a:ext cx="48463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834640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B27"/>
                </a:solidFill>
                <a:latin typeface="Arial"/>
              </a:rPr>
              <a:t>Provenance cross-check against recorded defaults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9584"/>
            <a:ext cx="48463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84448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B27"/>
                </a:solidFill>
                <a:latin typeface="Arial"/>
              </a:rPr>
              <a:t>Laptop install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279392"/>
            <a:ext cx="48463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334255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B27"/>
                </a:solidFill>
                <a:latin typeface="Arial"/>
              </a:rPr>
              <a:t>New cases: TVC, FAO-56, pywatershed, PROSAIL inversion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5029200"/>
            <a:ext cx="48463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5084064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B27"/>
                </a:solidFill>
                <a:latin typeface="Arial"/>
              </a:rPr>
              <a:t>Full land surface models · comparison with coding agents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5779008"/>
            <a:ext cx="484632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43600" y="822960"/>
            <a:ext cx="5577840" cy="5303520"/>
          </a:xfrm>
          <a:prstGeom prst="roundRect">
            <a:avLst>
              <a:gd name="adj" fmla="val 2758"/>
            </a:avLst>
          </a:prstGeom>
          <a:solidFill>
            <a:srgbClr val="2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97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8C8C6"/>
                </a:solidFill>
                <a:latin typeface="Courier New"/>
              </a:rPr>
              <a:t>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46304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Plug in </a:t>
            </a:r>
            <a:r>
              <a:rPr sz="3000" b="1" i="1">
                <a:solidFill>
                  <a:srgbClr val="FFFFFF"/>
                </a:solidFill>
                <a:latin typeface="Georgia"/>
              </a:rPr>
              <a:t>theories, not only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8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0E0DE"/>
                </a:solidFill>
                <a:latin typeface="Arial"/>
              </a:rPr>
              <a:t>Today humans register models and the agent configures and runs them. Next the agent may write or revise physics code, such as a MEMLS adapter or a revised snow-density scheme, but only through the same contract: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2976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0E0DE"/>
                </a:solidFill>
                <a:latin typeface="Courier New"/>
              </a:rPr>
              <a:t>card · conservation and reference checks · regression test · human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0292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"Declare, don't code" becomes "code only through the contract."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5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D5C8"/>
                </a:solidFill>
                <a:latin typeface="Courier New"/>
              </a:rPr>
              <a:t>13 ·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3D5C8"/>
                </a:solidFill>
                <a:latin typeface="Courier New"/>
              </a:rPr>
              <a:t>HOW CAN WE TRUST THE MODEL?  ·  18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Trust, </a:t>
            </a:r>
            <a:r>
              <a:rPr sz="5400" b="1" i="1">
                <a:solidFill>
                  <a:srgbClr val="FFFFFF"/>
                </a:solidFill>
                <a:latin typeface="Georgia"/>
              </a:rPr>
              <a:t>scored.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0" y="2103120"/>
            <a:ext cx="5212080" cy="0"/>
          </a:xfrm>
          <a:prstGeom prst="line">
            <a:avLst/>
          </a:prstGeom>
          <a:ln w="9525">
            <a:solidFill>
              <a:srgbClr val="D9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0" y="2176272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· The model is what its card says.  [20/20]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09360" y="2971800"/>
            <a:ext cx="5212080" cy="0"/>
          </a:xfrm>
          <a:prstGeom prst="line">
            <a:avLst/>
          </a:prstGeom>
          <a:ln w="9525">
            <a:solidFill>
              <a:srgbClr val="D9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09360" y="3044952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B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· The run matches the paper and names its assumptions.  [FIGURE] [NUMERIC 1 WK]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3840479"/>
            <a:ext cx="5212080" cy="0"/>
          </a:xfrm>
          <a:prstGeom prst="line">
            <a:avLst/>
          </a:prstGeom>
          <a:ln w="9525">
            <a:solidFill>
              <a:srgbClr val="D9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09360" y="3913631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C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· The cost is known.  [TIME, TOKENS]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9360" y="4709159"/>
            <a:ext cx="5212080" cy="0"/>
          </a:xfrm>
          <a:prstGeom prst="line">
            <a:avLst/>
          </a:prstGeom>
          <a:ln w="9525">
            <a:solidFill>
              <a:srgbClr val="D98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9360" y="493776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3D5C8"/>
                </a:solidFill>
                <a:latin typeface="Arial"/>
              </a:rPr>
              <a:t>Read the gates. Recompute the scores. Register your own model and test it the same 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8615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92663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92663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76711" y="6400800"/>
            <a:ext cx="329184" cy="274320"/>
          </a:xfrm>
          <a:prstGeom prst="roundRect">
            <a:avLst>
              <a:gd name="adj" fmla="val 40000"/>
            </a:avLst>
          </a:prstGeom>
          <a:solidFill>
            <a:srgbClr val="C4532F"/>
          </a:solidFill>
          <a:ln w="12700">
            <a:solidFill>
              <a:srgbClr val="C45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6711" y="640080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5ACA2"/>
                </a:solidFill>
                <a:latin typeface="Courier New"/>
              </a:rPr>
              <a:t>Q&amp;A · 3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5ACA2"/>
                </a:solidFill>
                <a:latin typeface="Courier New"/>
              </a:rPr>
              <a:t>PHYSEARTH-AGENT  ·  19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AFAF8"/>
                </a:solidFill>
                <a:latin typeface="Georgia"/>
              </a:rPr>
              <a:t>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3291840"/>
            <a:ext cx="8229600" cy="0"/>
          </a:xfrm>
          <a:prstGeom prst="line">
            <a:avLst/>
          </a:prstGeom>
          <a:ln w="9525">
            <a:solidFill>
              <a:srgbClr val="4A4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334670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F8F6F2"/>
                </a:solidFill>
                <a:latin typeface="Arial"/>
              </a:rPr>
              <a:t>Why not Claude Code or Codex?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4023360"/>
            <a:ext cx="8229600" cy="0"/>
          </a:xfrm>
          <a:prstGeom prst="line">
            <a:avLst/>
          </a:prstGeom>
          <a:ln w="9525">
            <a:solidFill>
              <a:srgbClr val="4A4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407822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F8F6F2"/>
                </a:solidFill>
                <a:latin typeface="Arial"/>
              </a:rPr>
              <a:t>What if the paper does not state a parameter?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4754880"/>
            <a:ext cx="8229600" cy="0"/>
          </a:xfrm>
          <a:prstGeom prst="line">
            <a:avLst/>
          </a:prstGeom>
          <a:ln w="9525">
            <a:solidFill>
              <a:srgbClr val="4A4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80974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F8F6F2"/>
                </a:solidFill>
                <a:latin typeface="Arial"/>
              </a:rPr>
              <a:t>How do I add my own model or paper?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5486400"/>
            <a:ext cx="8229600" cy="0"/>
          </a:xfrm>
          <a:prstGeom prst="line">
            <a:avLst/>
          </a:prstGeom>
          <a:ln w="9525">
            <a:solidFill>
              <a:srgbClr val="4A4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WHICH TASKS THE AGENT CAN RUN  ·  20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4532F"/>
                </a:solidFill>
                <a:latin typeface="Courier New"/>
              </a:rPr>
              <a:t>FIRST PASS FROM TASK TEXT AND REGISTERED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B27"/>
                </a:solidFill>
                <a:latin typeface="Georgia"/>
              </a:rPr>
              <a:t>Can run, can't run, </a:t>
            </a:r>
            <a:r>
              <a:rPr sz="3200" b="1" i="1">
                <a:solidFill>
                  <a:srgbClr val="C4532F"/>
                </a:solidFill>
                <a:latin typeface="Georgia"/>
              </a:rPr>
              <a:t>to confirm.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01168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011680"/>
            <a:ext cx="571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WHY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313432"/>
            <a:ext cx="10972800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3500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Q1 · SMRT Fig.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3500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[CAN RUN]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500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Run end to end; figure in 3/3 pilot runs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77063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8072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Fig. 4a / 4b · SMRT curves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8072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[SHOULD RUN]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8072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Paper states the configuration; tasks exist; not yet executed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22783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2644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Fig. 5 · IBA with sticky spheres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2644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[SHOULD RUN]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2644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All SMRT pieces registered; not yet executed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68503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37216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Fig. 4 comparison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7216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[CANNOT]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7216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DMRT-QMS and DMRT-ML are not registered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14223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1788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Fig. 6 · against MEMLS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1788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[CANNOT]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1788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Needs MEMLS; SMRT side only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59943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46360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PROSAIL hybrid inversion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6360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[CANNOT]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6360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PROSAIL is forward-only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505663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50932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Trail Valley Creek, model vs measurement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50932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[SHOULD RUN]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Dataset and SMRT both bundled; not yet scored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551383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55504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B27"/>
                </a:solidFill>
                <a:latin typeface="Arial"/>
              </a:rPr>
              <a:t>Q2, Q3, Q4 in the competition spec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55504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[UNDEFINED]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555040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2B27"/>
                </a:solidFill>
                <a:latin typeface="Arial"/>
              </a:rPr>
              <a:t>Only Q1 has a task file; Q3 names MEMLS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597103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64008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Confirm each by running the capability gate (no LLM) over every task file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4747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25E"/>
                </a:solidFill>
                <a:latin typeface="Courier New"/>
              </a:rPr>
              <a:t>RELATED AGENTS  ·  21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B27"/>
                </a:solidFill>
                <a:latin typeface="Georgia"/>
              </a:rPr>
              <a:t>Related work, </a:t>
            </a:r>
            <a:r>
              <a:rPr sz="3200" b="1" i="1">
                <a:solidFill>
                  <a:srgbClr val="C4532F"/>
                </a:solidFill>
                <a:latin typeface="Georgia"/>
              </a:rPr>
              <a:t>side by 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737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7373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SIMILAR TO 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7373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25E"/>
                </a:solidFill>
                <a:latin typeface="Courier New"/>
              </a:rPr>
              <a:t>LACKS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039112"/>
            <a:ext cx="10972800" cy="0"/>
          </a:xfrm>
          <a:prstGeom prst="line">
            <a:avLst/>
          </a:prstGeom>
          <a:ln w="19050">
            <a:solidFill>
              <a:srgbClr val="22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075688"/>
            <a:ext cx="201167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RS-Agent (2406.07089)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075688"/>
            <a:ext cx="25603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18 specialist RS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075688"/>
            <a:ext cx="283463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Solution and knowledge space = method notes and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75688"/>
            <a:ext cx="283463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Pre-run validation, approval, provenance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81635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852928"/>
            <a:ext cx="201167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GeoGPT (2307.07930)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852928"/>
            <a:ext cx="25603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LangChain GIS tool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852928"/>
            <a:ext cx="283463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Predefined tool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52928"/>
            <a:ext cx="283463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Physical models, checks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593592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630168"/>
            <a:ext cx="201167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GeoAgent (2410.18792)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630168"/>
            <a:ext cx="25603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Code interpreter, RAG, MCTS 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630168"/>
            <a:ext cx="283463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RAG, error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630168"/>
            <a:ext cx="283463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Writes code; no physical bounds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370831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407407"/>
            <a:ext cx="201167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B27"/>
                </a:solidFill>
                <a:latin typeface="Arial"/>
              </a:rPr>
              <a:t>ThinkGeo (2505.23752)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407407"/>
            <a:ext cx="25603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Benchmark: 14 tools, 486 tasks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407407"/>
            <a:ext cx="283463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Step-wise and final-answer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407407"/>
            <a:ext cx="2834639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22B27"/>
                </a:solidFill>
                <a:latin typeface="Arial"/>
              </a:rPr>
              <a:t>No configuration or provenance scoring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5148071"/>
            <a:ext cx="10972800" cy="0"/>
          </a:xfrm>
          <a:prstGeom prst="line">
            <a:avLst/>
          </a:prstGeom>
          <a:ln w="9525">
            <a:solidFill>
              <a:srgbClr val="E3D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64008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25E"/>
                </a:solidFill>
                <a:latin typeface="Courier New"/>
              </a:rPr>
              <a:t>Also: UnivEARTH 2504.12110 · Earth-Bench 2509.23141 · survey 2601.01891 · Reichstein et al., Nature 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